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1" r:id="rId7"/>
    <p:sldId id="262" r:id="rId8"/>
    <p:sldId id="269" r:id="rId9"/>
    <p:sldId id="270" r:id="rId10"/>
    <p:sldId id="271" r:id="rId11"/>
    <p:sldId id="272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4960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7748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37960"/>
            <a:ext cx="113842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65392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580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67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227109" y="1204701"/>
            <a:ext cx="8787635" cy="20223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bs-Latn-BA" sz="4400" dirty="0">
                <a:solidFill>
                  <a:schemeClr val="bg1"/>
                </a:solidFill>
              </a:rPr>
              <a:t>Konvertor trofazne estimacije stanja</a:t>
            </a:r>
            <a:r>
              <a:rPr lang="en-US" sz="4400" dirty="0">
                <a:solidFill>
                  <a:schemeClr val="bg1"/>
                </a:solidFill>
              </a:rPr>
              <a:t>: </a:t>
            </a:r>
            <a:r>
              <a:rPr lang="en-US" sz="4400" dirty="0" err="1">
                <a:solidFill>
                  <a:schemeClr val="bg1"/>
                </a:solidFill>
              </a:rPr>
              <a:t>kompleksne</a:t>
            </a:r>
            <a:r>
              <a:rPr lang="en-US" sz="4400" dirty="0">
                <a:solidFill>
                  <a:schemeClr val="bg1"/>
                </a:solidFill>
              </a:rPr>
              <a:t> </a:t>
            </a:r>
            <a:r>
              <a:rPr lang="en-US" sz="4400" dirty="0" err="1">
                <a:solidFill>
                  <a:schemeClr val="bg1"/>
                </a:solidFill>
              </a:rPr>
              <a:t>koordinate</a:t>
            </a:r>
            <a:endParaRPr sz="44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010239" y="3347207"/>
            <a:ext cx="3221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Harun </a:t>
            </a:r>
            <a:r>
              <a:rPr lang="en-US" sz="2400" dirty="0" err="1">
                <a:solidFill>
                  <a:schemeClr val="bg1"/>
                </a:solidFill>
              </a:rPr>
              <a:t>Vuk</a:t>
            </a:r>
            <a:r>
              <a:rPr lang="en-US" sz="2400" dirty="0">
                <a:solidFill>
                  <a:schemeClr val="bg1"/>
                </a:solidFill>
              </a:rPr>
              <a:t> 19633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94360" y="1154074"/>
            <a:ext cx="4246088" cy="4864608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967890"/>
            <a:ext cx="23774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20000"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Problem</a:t>
            </a:r>
            <a:endParaRPr lang="en-US" sz="2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59" y="2361082"/>
            <a:ext cx="3941987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MATPOWER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podaci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nisu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direktno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kompatibilni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Ru</a:t>
            </a: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čno pisanje dTwin modela za trofazni sistem je sporo i ima veliku mogućnost greške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Potrebno je ručno definisati mjerenja, šum i jednačine</a:t>
            </a:r>
          </a:p>
        </p:txBody>
      </p:sp>
      <p:sp>
        <p:nvSpPr>
          <p:cNvPr id="10" name="Shape 8"/>
          <p:cNvSpPr/>
          <p:nvPr/>
        </p:nvSpPr>
        <p:spPr>
          <a:xfrm>
            <a:off x="6941471" y="1154074"/>
            <a:ext cx="4650018" cy="4864608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159585" y="1967890"/>
            <a:ext cx="23774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 err="1">
                <a:solidFill>
                  <a:srgbClr val="0D948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Cilj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59585" y="2361082"/>
            <a:ext cx="4066144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Automatski generisati dTwin model iz MATPOWER trofaznih podataka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Generisati .dmodl i .vmodl fajlove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s-Latn-BA" sz="1600" dirty="0">
                <a:latin typeface="Arial" panose="020B0604020202020204" pitchFamily="34" charset="0"/>
                <a:cs typeface="Arial" panose="020B0604020202020204" pitchFamily="34" charset="0"/>
              </a:rPr>
              <a:t>Omogućiti estimaciju stanja trofaznog sistema u kompleksnim koordinatama</a:t>
            </a:r>
          </a:p>
        </p:txBody>
      </p:sp>
      <p:sp>
        <p:nvSpPr>
          <p:cNvPr id="14" name="Text 12"/>
          <p:cNvSpPr/>
          <p:nvPr/>
        </p:nvSpPr>
        <p:spPr>
          <a:xfrm>
            <a:off x="3867912" y="3728110"/>
            <a:ext cx="448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778441" y="3728110"/>
            <a:ext cx="448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Tok rada sistema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 MATPOWER fajla do interpretacije estimiranog stanja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7607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MATPOWER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3-phase .m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235915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Parsiranje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podataka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4169664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Formiranje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Ybus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597103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Generisanje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.dmodl/.vmodl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781544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dTwin WLS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solver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9582912" y="2212848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880" b="1" dirty="0" err="1">
                <a:solidFill>
                  <a:srgbClr val="FFFFFF"/>
                </a:solidFill>
              </a:rPr>
              <a:t>Grafovii</a:t>
            </a:r>
            <a:endParaRPr lang="en-US" sz="880" dirty="0"/>
          </a:p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validacija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576072" y="2114027"/>
            <a:ext cx="7047464" cy="2778014"/>
          </a:xfrm>
          <a:prstGeom prst="roundRect">
            <a:avLst>
              <a:gd name="adj" fmla="val 8889"/>
            </a:avLst>
          </a:prstGeom>
          <a:solidFill>
            <a:srgbClr val="EDF6FF"/>
          </a:solidFill>
          <a:ln w="12700">
            <a:solidFill>
              <a:srgbClr val="BF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07270" y="3244279"/>
            <a:ext cx="12801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Klju</a:t>
            </a:r>
            <a:r>
              <a:rPr lang="bs-Latn-BA" sz="13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300" b="1" dirty="0" err="1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na</a:t>
            </a:r>
            <a:r>
              <a:rPr lang="en-US" sz="13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ideja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87429" y="2176233"/>
            <a:ext cx="5436107" cy="252160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Plugin ne unosi gotove rezultate. On iz ulaznih podataka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gradi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matemati</a:t>
            </a:r>
            <a:r>
              <a:rPr lang="bs-Latn-BA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ki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model, a dTwin WLS solver 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izra</a:t>
            </a:r>
            <a:r>
              <a:rPr lang="bs-Latn-BA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</a:t>
            </a:r>
            <a:r>
              <a:rPr lang="en-US" sz="1600" dirty="0" err="1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unava</a:t>
            </a:r>
            <a:r>
              <a:rPr lang="en-US" sz="1600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stanje mreže.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742" y="8034"/>
            <a:ext cx="887506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Podaci za formiranje Ybus matrice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Mrežni elementi koji ulaze u matematički model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41832" y="135331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mpc.bus3p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984248" y="135331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sabirnice i faze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23360" y="12344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187952" y="135331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mpc.line3p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230368" y="135331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topologija vodova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41832" y="213055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mpc.lc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82244" y="2130552"/>
            <a:ext cx="2048256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R, X i C </a:t>
            </a: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kolone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/elekt</a:t>
            </a: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ri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čni parametri voda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023360" y="20116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187952" y="213055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mpc.xfmr3p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30368" y="213055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transformatori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77240" y="27889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41832" y="290779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mpc.load3p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33914" y="2907792"/>
            <a:ext cx="1572768" cy="1920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Optere</a:t>
            </a:r>
            <a:r>
              <a:rPr lang="bs-Latn-BA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ćenje/potrošnja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23360" y="27889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2F7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187952" y="290779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mpc.gen3p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230368" y="290779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generatori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" y="356616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41832" y="3685032"/>
            <a:ext cx="100584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mpc.shunt3p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984248" y="3685032"/>
            <a:ext cx="1325880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šant elementi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543800" y="1234440"/>
            <a:ext cx="3749040" cy="3886200"/>
          </a:xfrm>
          <a:prstGeom prst="roundRect">
            <a:avLst>
              <a:gd name="adj" fmla="val 2927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81812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Ybus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01000" y="2057400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900684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509760" y="2057400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10012680" y="2057400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800100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8503920" y="2450592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9006840" y="2450592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50976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0012680" y="2450592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001000" y="2843784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503920" y="2843784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9006840" y="2843784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9509760" y="2843784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10012680" y="2843784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001000" y="3236976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850392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900684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9509760" y="3236976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4"/>
          <p:cNvSpPr/>
          <p:nvPr/>
        </p:nvSpPr>
        <p:spPr>
          <a:xfrm>
            <a:off x="10012680" y="3236976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800100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50392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9006840" y="3630168"/>
            <a:ext cx="347472" cy="256032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509760" y="3630168"/>
            <a:ext cx="347472" cy="256032"/>
          </a:xfrm>
          <a:prstGeom prst="rect">
            <a:avLst/>
          </a:prstGeom>
          <a:solidFill>
            <a:srgbClr val="334155">
              <a:alpha val="80000"/>
            </a:srgbClr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10012680" y="3630168"/>
            <a:ext cx="347472" cy="256032"/>
          </a:xfrm>
          <a:prstGeom prst="rect">
            <a:avLst/>
          </a:prstGeom>
          <a:solidFill>
            <a:srgbClr val="2563EB"/>
          </a:solidFill>
          <a:ln w="6350">
            <a:solidFill>
              <a:srgbClr val="0F17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7818120" y="4359339"/>
            <a:ext cx="3154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Kompleksna admitansna matrica povezuje napone i injektirane struje svih faza i čvorova.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9768"/>
            <a:ext cx="896112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WLS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kompleksne</a:t>
            </a:r>
            <a:r>
              <a:rPr sz="2400" b="0" dirty="0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b="0" dirty="0" err="1">
                <a:solidFill>
                  <a:srgbClr val="081F3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varijable</a:t>
            </a:r>
            <a:endParaRPr sz="2400" b="0" dirty="0">
              <a:solidFill>
                <a:srgbClr val="081F3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6072" y="877824"/>
            <a:ext cx="777240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Osnovna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matematička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ideja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estimacije</a:t>
            </a:r>
            <a:r>
              <a:rPr sz="1050" b="0" dirty="0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050" b="0" dirty="0" err="1">
                <a:solidFill>
                  <a:srgbClr val="50637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stanja</a:t>
            </a:r>
            <a:endParaRPr sz="1050" b="0" dirty="0">
              <a:solidFill>
                <a:srgbClr val="50637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3931920" cy="1965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WLS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minimizacija</a:t>
            </a:r>
            <a:endParaRPr sz="18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zapisuju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z = h(x) + 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Traži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najbolje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odgovara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mjerenjima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Minimizira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se:  J(x) = 1/2 · [z − h(x)]ᵀ W [z − h(x)]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veće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težine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pouzdanijim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mjerenjima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8888" y="1417320"/>
            <a:ext cx="3931920" cy="1965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bIns="109728" rtlCol="0" anchor="ctr"/>
          <a:lstStyle/>
          <a:p>
            <a:pPr algn="ctr">
              <a:spcAft>
                <a:spcPts val="800"/>
              </a:spcAft>
            </a:pP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8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8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linearizacija</a:t>
            </a:r>
            <a:endParaRPr sz="18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traže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varijablama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stanja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Jakobijeva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matrica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H = ∂h(x) / ∂x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Solver u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svakoj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iteraciji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računa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korekciju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Δx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Ažuriranje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xₖ₊₁ = xₖ +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Δx</a:t>
            </a:r>
            <a:endParaRPr sz="1300" dirty="0">
              <a:solidFill>
                <a:srgbClr val="10203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3492840"/>
            <a:ext cx="8092440" cy="1051560"/>
          </a:xfrm>
          <a:prstGeom prst="roundRect">
            <a:avLst/>
          </a:prstGeom>
          <a:solidFill>
            <a:srgbClr val="EBF3FC"/>
          </a:solidFill>
          <a:ln w="12700">
            <a:solidFill>
              <a:srgbClr val="B7C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5448" rIns="228600" bIns="109728" rtlCol="0" anchor="ctr"/>
          <a:lstStyle/>
          <a:p>
            <a:pPr algn="ctr"/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Kompleksne</a:t>
            </a:r>
            <a:r>
              <a:rPr sz="16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koordinate</a:t>
            </a:r>
            <a:r>
              <a:rPr sz="1600" b="1" dirty="0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sz="1600" b="1" dirty="0" err="1">
                <a:solidFill>
                  <a:srgbClr val="2563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modelu</a:t>
            </a:r>
            <a:endParaRPr sz="1600" b="1" dirty="0">
              <a:solidFill>
                <a:srgbClr val="2563E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</a:pP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Svaki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napon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može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zapisati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vᵢ = aᵢ + j bᵢ = |vᵢ|∠θᵢ. 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račun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koriste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imaginarni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dio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prikaz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rezultata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magnitude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300" dirty="0" err="1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uglovi</a:t>
            </a:r>
            <a:r>
              <a:rPr sz="1300" dirty="0">
                <a:solidFill>
                  <a:srgbClr val="10203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17320"/>
            <a:ext cx="2148840" cy="3438144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64592" bIns="137160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Kompleksni</a:t>
            </a:r>
            <a:r>
              <a:rPr sz="15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endParaRPr sz="15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Funkcije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mjerenja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mogu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zavisiti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od x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konjugata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x̄.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Zato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kompleksni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zapis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koriste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izvodi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x̄.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Wirtingerov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bs-Latn-BA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čun</a:t>
            </a:r>
            <a:r>
              <a:rPr lang="en-US" sz="1200" dirty="0">
                <a:solidFill>
                  <a:srgbClr val="E5EBF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00" dirty="0">
              <a:solidFill>
                <a:srgbClr val="E5EBF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5797296"/>
            <a:ext cx="10287000" cy="9144"/>
          </a:xfrm>
          <a:prstGeom prst="rect">
            <a:avLst/>
          </a:prstGeom>
          <a:solidFill>
            <a:srgbClr val="D2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870448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17184"/>
                </a:solidFill>
                <a:latin typeface="Aptos Display"/>
              </a:rPr>
              <a:t>SREES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5843016"/>
            <a:ext cx="228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17184"/>
                </a:solidFill>
                <a:latin typeface="Aptos Display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8" y="4721086"/>
            <a:ext cx="8186774" cy="1051560"/>
          </a:xfrm>
          <a:prstGeom prst="roundRect">
            <a:avLst/>
          </a:prstGeom>
          <a:solidFill>
            <a:srgbClr val="EBF3FC"/>
          </a:solidFill>
          <a:ln w="12700">
            <a:solidFill>
              <a:srgbClr val="B7CF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5448" rIns="228600" bIns="109728" rtlCol="0" anchor="ctr"/>
          <a:lstStyle/>
          <a:p>
            <a:pPr algn="ctr"/>
            <a:r>
              <a:rPr lang="bs-Latn-BA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Napomena</a:t>
            </a:r>
          </a:p>
          <a:p>
            <a:pPr algn="ctr"/>
            <a:r>
              <a:rPr lang="bs-Latn-BA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 impelmentaciji se Jacobiani ne računaju ručno. Plugin generiše kompleksne WLS jednačine, a dTwin WLS solver interno formira potrebne izvode i iterativne korekcije.</a:t>
            </a:r>
            <a:endParaRPr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58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s-Latn-BA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Jednačine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za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sistem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u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kompleksnim</a:t>
            </a: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 </a:t>
            </a:r>
            <a:r>
              <a:rPr lang="en-US" sz="2400" b="1" dirty="0" err="1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koordinatama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5212080" cy="438912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143000" y="1572768"/>
            <a:ext cx="34747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8BDF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Osnovna kompleksna jednačina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2240280"/>
            <a:ext cx="4389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Sᵢ = Vᵢ · conj( Σⱼ Yᵢⱼ · Vⱼ )</a:t>
            </a:r>
            <a:endParaRPr lang="en-US" sz="2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25880" y="3154680"/>
            <a:ext cx="35661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Sᵢ — kompleksna snaga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Vᵢ, Vⱼ — kompleksni naponi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Yᵢⱼ — elementi Ybus matrice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3" name="Shape 2"/>
          <p:cNvSpPr/>
          <p:nvPr/>
        </p:nvSpPr>
        <p:spPr>
          <a:xfrm>
            <a:off x="6809762" y="1234440"/>
            <a:ext cx="4959991" cy="43891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3"/>
          <p:cNvSpPr/>
          <p:nvPr/>
        </p:nvSpPr>
        <p:spPr>
          <a:xfrm>
            <a:off x="7084082" y="1508760"/>
            <a:ext cx="1049229" cy="23597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Stanja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4"/>
          <p:cNvSpPr/>
          <p:nvPr/>
        </p:nvSpPr>
        <p:spPr>
          <a:xfrm>
            <a:off x="7084082" y="2057400"/>
            <a:ext cx="4101531" cy="42475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r>
              <a:rPr lang="en-US" sz="2500" b="1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x = [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v₁ v₂ </a:t>
            </a:r>
            <a:r>
              <a:rPr lang="en-US" sz="2500" b="1" dirty="0">
                <a:solidFill>
                  <a:srgbClr val="0F172A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…  vₙ ]ᵀ</a:t>
            </a:r>
            <a:endParaRPr lang="en-US"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5"/>
          <p:cNvSpPr/>
          <p:nvPr/>
        </p:nvSpPr>
        <p:spPr>
          <a:xfrm>
            <a:off x="7111514" y="2788919"/>
            <a:ext cx="2861533" cy="22653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Svaki napon je kompleksan: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6"/>
          <p:cNvSpPr/>
          <p:nvPr/>
        </p:nvSpPr>
        <p:spPr>
          <a:xfrm>
            <a:off x="7111514" y="3154680"/>
            <a:ext cx="4006147" cy="42475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2200" b="1" dirty="0">
                <a:solidFill>
                  <a:srgbClr val="102A43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vᵢ = aᵢ + j bᵢ =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|vᵢ|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eʲ</a:t>
            </a:r>
            <a:r>
              <a:rPr lang="el-GR" sz="2400" dirty="0">
                <a:latin typeface="Arial" panose="020B0604020202020204" pitchFamily="34" charset="0"/>
                <a:cs typeface="Arial" panose="020B0604020202020204" pitchFamily="34" charset="0"/>
              </a:rPr>
              <a:t>θ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ᵢ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Simulirana mjerenja i Gaussov šum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Provjera robusnosti bez ručnog unošenja rezultata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3192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72084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509760" y="193852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926" y="85274"/>
            <a:ext cx="5139475" cy="66510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96" y="3347060"/>
            <a:ext cx="6448667" cy="19469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8230" y="1107258"/>
            <a:ext cx="63756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Princip rada Gaussovog šuma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Distribs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defini</a:t>
            </a: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še Gaussova raspodjela šuma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U PreProc se šum dodaje mjerenim injekcijama kompleksne snage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WLS procjenjuje stanje iz zašumljenih mjerenja snage,zero-injection ograničenja i referentnih napona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8382166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Validacija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poredjenje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IEEE 4-bus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rješenjem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58368"/>
            <a:ext cx="6085320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profModel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upoređen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rezultatima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DSSE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knjige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rezultatima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navedenim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reportu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240206"/>
            <a:ext cx="3063240" cy="1234440"/>
          </a:xfrm>
          <a:prstGeom prst="roundRect">
            <a:avLst/>
          </a:prstGeom>
          <a:solidFill>
            <a:srgbClr val="E1F4EB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Glavni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zaključak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poklapaju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 4.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decimale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3220"/>
            <a:ext cx="3063240" cy="1051560"/>
          </a:xfrm>
          <a:prstGeom prst="roundRect">
            <a:avLst/>
          </a:prstGeom>
          <a:solidFill>
            <a:srgbClr val="FFF4E1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Najveće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odstupanje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0.00016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V4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što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očekivano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zbog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zaokruživanja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razlika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izme</a:t>
            </a:r>
            <a:r>
              <a:rPr lang="bs-Latn-BA" dirty="0">
                <a:latin typeface="Arial" panose="020B0604020202020204" pitchFamily="34" charset="0"/>
                <a:cs typeface="Arial" panose="020B0604020202020204" pitchFamily="34" charset="0"/>
              </a:rPr>
              <a:t>đu referentnog rezultata iz literature i vrijednsoti iz dTwin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494907"/>
              </p:ext>
            </p:extLst>
          </p:nvPr>
        </p:nvGraphicFramePr>
        <p:xfrm>
          <a:off x="3977639" y="1234440"/>
          <a:ext cx="5897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Čvor</a:t>
                      </a: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faza</a:t>
                      </a:r>
                      <a:endParaRPr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Ref. LS</a:t>
                      </a: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dTwin</a:t>
                      </a:r>
                      <a:endParaRPr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|Δ|</a:t>
                      </a:r>
                    </a:p>
                  </a:txBody>
                  <a:tcPr marL="36576" marR="36576" marT="18288" marB="18288">
                    <a:solidFill>
                      <a:srgbClr val="CDE6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0.9876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0.987643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0.9921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0.992087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V2 C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0.989516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0.936714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0.9451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0.945132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V3 C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0.9400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0.939972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0.000028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A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0.8059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0.806000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B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0.8637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0.863562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0.000138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V4 C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0.8311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0.830940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C1C1C"/>
                          </a:solidFill>
                        </a:defRPr>
                      </a:pPr>
                      <a:r>
                        <a:rPr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0.000160</a:t>
                      </a:r>
                    </a:p>
                  </a:txBody>
                  <a:tcPr marL="36576" marR="36576" marT="18288" marB="18288">
                    <a:solidFill>
                      <a:srgbClr val="FFF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023360" y="5989320"/>
            <a:ext cx="405110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Referenca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DSSE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knjiga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Table 6.3;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dTwin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vrijednosti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report.pdf,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poglavlje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12.1.</a:t>
            </a:r>
          </a:p>
        </p:txBody>
      </p:sp>
    </p:spTree>
    <p:extLst>
      <p:ext uri="{BB962C8B-B14F-4D97-AF65-F5344CB8AC3E}">
        <p14:creationId xmlns:p14="http://schemas.microsoft.com/office/powerpoint/2010/main" val="640114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5137945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Poređenje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amplituda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58368"/>
            <a:ext cx="6571030" cy="269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555555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Grafički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prikaz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potvrđuje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trend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tabela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pad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prema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udaljenijim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čvorovima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099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mp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40" y="1234440"/>
            <a:ext cx="8916118" cy="4434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V2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0.988 – 0.992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V3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0.937 – 0.945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V4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najveći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pad: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0.806 – 0.864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p.u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94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4695516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Poređenje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uglova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099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ngle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40" y="1234440"/>
            <a:ext cx="8916118" cy="4434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A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ugao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blizu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0 rad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B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−2.094 rad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5788152"/>
            <a:ext cx="3429000" cy="594360"/>
          </a:xfrm>
          <a:prstGeom prst="roundRect">
            <a:avLst/>
          </a:prstGeom>
          <a:solidFill>
            <a:srgbClr val="F5FAFD"/>
          </a:solidFill>
          <a:ln w="8890">
            <a:solidFill>
              <a:srgbClr val="91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8872" tIns="73152" rIns="118872" bIns="54864" rtlCol="0" anchor="ctr"/>
          <a:lstStyle/>
          <a:p>
            <a:pPr algn="ctr">
              <a:defRPr sz="125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Faza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</a:t>
            </a:r>
          </a:p>
          <a:p>
            <a:pPr>
              <a:spcBef>
                <a:spcPts val="400"/>
              </a:spcBef>
              <a:defRPr sz="1019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oko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+2.094 rad</a:t>
            </a:r>
          </a:p>
        </p:txBody>
      </p:sp>
    </p:spTree>
    <p:extLst>
      <p:ext uri="{BB962C8B-B14F-4D97-AF65-F5344CB8AC3E}">
        <p14:creationId xmlns:p14="http://schemas.microsoft.com/office/powerpoint/2010/main" val="3141492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618630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C1C1C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Konvergencija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generisane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WLS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jednačine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84280" cy="27432"/>
          </a:xfrm>
          <a:prstGeom prst="rect">
            <a:avLst/>
          </a:prstGeom>
          <a:solidFill>
            <a:srgbClr val="1E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0" y="6547104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55555"/>
                </a:solidFill>
              </a:defRPr>
            </a:pPr>
            <a:r>
              <a:t>SREES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rec_larg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03095"/>
            <a:ext cx="5486400" cy="2731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234440"/>
            <a:ext cx="5394960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q_larg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24454"/>
            <a:ext cx="5394960" cy="2689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422392"/>
            <a:ext cx="40863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Precision: log(eps)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opada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kroz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iteracije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pa se WLS solver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stabilizuje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5422392"/>
            <a:ext cx="381226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WLSEs: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za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ne-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referentne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čvorove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koristi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se Sᵢ = Vᵢ ·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conj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(ΣYᵢⱼVⱼ).</a:t>
            </a:r>
          </a:p>
        </p:txBody>
      </p:sp>
    </p:spTree>
    <p:extLst>
      <p:ext uri="{BB962C8B-B14F-4D97-AF65-F5344CB8AC3E}">
        <p14:creationId xmlns:p14="http://schemas.microsoft.com/office/powerpoint/2010/main" val="1498952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A43"/>
                </a:solidFill>
                <a:latin typeface="Arial" panose="020B0604020202020204" pitchFamily="34" charset="0"/>
                <a:ea typeface="Aptos Display" pitchFamily="34" charset="-122"/>
                <a:cs typeface="Arial" panose="020B0604020202020204" pitchFamily="34" charset="0"/>
              </a:rPr>
              <a:t>Zaključak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234440"/>
            <a:ext cx="10332720" cy="4251960"/>
          </a:xfrm>
          <a:prstGeom prst="roundRect">
            <a:avLst>
              <a:gd name="adj" fmla="val 2581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25400" dist="50800" dir="2700000" algn="bl" rotWithShape="0">
              <a:srgbClr val="B8C2CC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80160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8BDF8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Šta je postignuto?</a:t>
            </a:r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25880" y="2103120"/>
            <a:ext cx="896112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Generisanje .dmodl i .vmodl modela iz MATPOWER 3-phase ulaza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Formiranje Ybus matrice iz svih glavnih mrežnih elemenata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WLS estimacija kompleksnih faznih napona u dTwin okruženju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0" indent="-1270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Grafički prikaz konvergencije,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amplituda</a:t>
            </a: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 uglova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faznih</a:t>
            </a:r>
            <a:r>
              <a:rPr lang="en-US" sz="1500" dirty="0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napona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75808E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831</Words>
  <Application>Microsoft Office PowerPoint</Application>
  <PresentationFormat>Widescreen</PresentationFormat>
  <Paragraphs>175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ETF / dTwin / natID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SREES: Trofazna estimacija stanja</dc:title>
  <dc:subject>SREES: trofazna estimacija stanja u dTwin/natID</dc:subject>
  <dc:creator>OpenAI</dc:creator>
  <cp:lastModifiedBy>Mirza Topalovic</cp:lastModifiedBy>
  <cp:revision>21</cp:revision>
  <dcterms:created xsi:type="dcterms:W3CDTF">2026-07-05T21:16:43Z</dcterms:created>
  <dcterms:modified xsi:type="dcterms:W3CDTF">2026-07-06T20:03:28Z</dcterms:modified>
</cp:coreProperties>
</file>